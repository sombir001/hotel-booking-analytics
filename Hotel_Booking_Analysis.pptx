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051560"/>
            <a:ext cx="10972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Hotel Booking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9601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Booking Behaviour, Cancellation Risk,</a:t>
            </a:r>
            <a:br/>
            <a:r>
              <a:t>Customer Segmentation &amp; Revenue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Sombir Singh  |  Cohort 146</a:t>
            </a:r>
            <a:br/>
            <a:r>
              <a:t>Python Data Analysis Project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The dataset reveals clear patterns in demand, cancellation risk and customer behaviour.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87,396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Clean Bookings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5544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55448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73736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August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0428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Peak Booking Month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5544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554480"/>
            <a:ext cx="7315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73736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27.5%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30428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Overall Cancellation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55448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1554480"/>
            <a:ext cx="73152" cy="1325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173736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106.3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30428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Average ADR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33756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Cancellation risk increases substantially as booking lead time grows.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Guests making special requests show lower cancellation rates.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Repeat guests book much closer to arrival than new guests.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Customer origin, market segment and distribution channel reveal distinct booking behaviours.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15000"/>
            <a:ext cx="10698480" cy="5486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The strongest operational opportunity is to identify high-risk bookings early and respond with targeted engagement.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510528"/>
            <a:ext cx="109270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Hotel Booking Analytics | Cohort 146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Dataset &amp;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A reproducible cleaning process created the analytical dataset used throughout the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2926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119,390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0428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Original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554480"/>
            <a:ext cx="2926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554480"/>
            <a:ext cx="73152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73736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31,994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0428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Duplicate Rows Removed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554480"/>
            <a:ext cx="2926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1554480"/>
            <a:ext cx="73152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73736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87,396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30428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Final Analytical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3756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Missing values were handled in children, country, agent and company.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Reservation status dates and numerical identifiers were converted to appropriate data types.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Exact duplicate observations were removed before analysis.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New analytical features included total stay, total guests, guest origin, arrival day and special-request indicators.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15000"/>
            <a:ext cx="10698480" cy="5486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All presentation metrics are generated programmatically from the same cleaned dataset used in the analysis.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510528"/>
            <a:ext cx="109270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Hotel Booking Analytics | Cohort 146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Demand Peaks During the Summer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August records the highest booking volume with 11,257 bookings.</a:t>
            </a:r>
          </a:p>
        </p:txBody>
      </p:sp>
      <p:pic>
        <p:nvPicPr>
          <p:cNvPr id="5" name="Picture 4" descr="monthly_book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7315200" cy="396601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82880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58200" y="1828800"/>
            <a:ext cx="73152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201168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11,257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578608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August Bookings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4290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Demand varies materially across arrival months.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Peak periods require proactive staffing and room-inventory planning.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Seasonality can also support dynamic pricing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10528"/>
            <a:ext cx="109270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Hotel Booking Analytics | Cohort 146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Lead Time Is a Clear Cancellation-Risk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Bookings made further in advance are substantially more likely to be cancelled.</a:t>
            </a:r>
          </a:p>
        </p:txBody>
      </p:sp>
      <p:pic>
        <p:nvPicPr>
          <p:cNvPr id="5" name="Picture 4" descr="lead_time_cancel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7406640" cy="40167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600200"/>
            <a:ext cx="2926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75320" y="1600200"/>
            <a:ext cx="7315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78308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70.1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35000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Avg. Lead Time — Retained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154680"/>
            <a:ext cx="2926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3154680"/>
            <a:ext cx="7315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33756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105.7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90448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Avg. Lead Time — Cancelled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15000"/>
            <a:ext cx="10698480" cy="5486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Action: Use long lead time as an early-warning feature for reconfirmation, reminders or deposit strategies.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510528"/>
            <a:ext cx="109270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Hotel Booking Analytics | Cohort 146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Guest Engagement Is Associated with Lower Cancellation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Bookings containing special requests demonstrate stronger booking retention.</a:t>
            </a:r>
          </a:p>
        </p:txBody>
      </p:sp>
      <p:pic>
        <p:nvPicPr>
          <p:cNvPr id="5" name="Picture 4" descr="special_requests_cancel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6675120" cy="41201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73736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737360"/>
            <a:ext cx="7315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920240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21.7%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487168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With Special 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33756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3337560"/>
            <a:ext cx="7315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3520440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33.2%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4087368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Without Special Request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15000"/>
            <a:ext cx="10698480" cy="5486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Special requests should be treated as an engagement signal—not proof of causation—but they may help identify more committed guests.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510528"/>
            <a:ext cx="109270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Hotel Booking Analytics | Cohort 146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Cancellation Risk Varies by Market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Booking volume alone does not indicate the quality or stability of demand.</a:t>
            </a:r>
          </a:p>
        </p:txBody>
      </p:sp>
      <p:pic>
        <p:nvPicPr>
          <p:cNvPr id="5" name="Picture 4" descr="market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315200" cy="39696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8288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Market segments show materially different cancellation behaviour.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High-volume segments should be evaluated alongside cancellation risk and ADR.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Channel and segment strategy should focus on profitable retained demand—not bookings alone.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15000"/>
            <a:ext cx="10698480" cy="5486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Management should combine booking volume, ADR and cancellation rate when evaluating acquisition channels.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510528"/>
            <a:ext cx="109270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Hotel Booking Analytics | Cohort 146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Domestic and International Guests Behave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Guest origin reveals meaningful differences in cancellation behaviour and booking characteristics.</a:t>
            </a:r>
          </a:p>
        </p:txBody>
      </p:sp>
      <p:pic>
        <p:nvPicPr>
          <p:cNvPr id="5" name="Picture 4" descr="domestic_interna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766560" cy="417376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645920"/>
            <a:ext cx="310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09560" y="1645920"/>
            <a:ext cx="7315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82880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35.7%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39572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Domestic Cancellation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3246120"/>
            <a:ext cx="310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3246120"/>
            <a:ext cx="7315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42900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23.9%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99592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International Cancellation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15000"/>
            <a:ext cx="10698480" cy="5486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Different guest-origin profiles support more targeted communication, retention and pricing strategies.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510528"/>
            <a:ext cx="109270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Hotel Booking Analytics | Cohort 146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Distribution Channels Produce Different Revenue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Average Daily Rate varies considerably across booking channels.</a:t>
            </a:r>
          </a:p>
        </p:txBody>
      </p:sp>
      <p:pic>
        <p:nvPicPr>
          <p:cNvPr id="5" name="Picture 4" descr="distribution_channel_a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7040880" cy="38535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164592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0" y="164592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82880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GDS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39572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Highest-ADR Channel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33756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333756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352044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120.32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08736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Average ADR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15000"/>
            <a:ext cx="10698480" cy="5486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Channel decisions should balance ADR, booking volume, acquisition cost and cancellation risk.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510528"/>
            <a:ext cx="109270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Hotel Booking Analytics | Cohort 146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Repeat Guests Require Less Advance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Returning customers book substantially closer to arrival than new customers.</a:t>
            </a:r>
          </a:p>
        </p:txBody>
      </p:sp>
      <p:pic>
        <p:nvPicPr>
          <p:cNvPr id="5" name="Picture 4" descr="repeat_guest_lea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766560" cy="41719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55279" y="169164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169164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874520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82.4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441448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New Guest Lead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29184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3291840"/>
            <a:ext cx="7315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3474720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17.2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041648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Repeat Guest Lead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15000"/>
            <a:ext cx="10698480" cy="5486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Loyalty campaigns and short-lead offers may be especially relevant for returning guests.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510528"/>
            <a:ext cx="109270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Hotel Booking Analytics | Cohort 146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Additional Operational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Room allocation and family demand provide further context for hotel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9,103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5000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Bookings with Children / Babies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0020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60020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8308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 →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35000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Most Common Room Match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0020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600200"/>
            <a:ext cx="73152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78308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45,879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5000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Bookings in Top Room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2900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Family bookings represent a distinct operational segment with different room and service requirements.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The most frequent reserved-to-assigned room combination indicates strong alignment for the dominant room category.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Room-allocation patterns can support inventory planning and help identify where upgrades or substitutions occur.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510528"/>
            <a:ext cx="109270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3796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Hotel Booking Analytics | Cohort 146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Translate analytical findings into operational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5087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Target long-lead bookings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6492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E8F0"/>
                </a:solidFill>
              </a:defRPr>
            </a:pPr>
            <a:r>
              <a:t>Use reconfirmation messages, reminders and appropriate deposit policies for bookings made far in advance.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0487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Encourage pre-arrival 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04872"/>
            <a:ext cx="6492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E8F0"/>
                </a:solidFill>
              </a:defRPr>
            </a:pPr>
            <a:r>
              <a:t>Use personalisation and special-request workflows to strengthen guest engagement before arrival.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00984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30098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Optimise channel mix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00984"/>
            <a:ext cx="6492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E8F0"/>
                </a:solidFill>
              </a:defRPr>
            </a:pPr>
            <a:r>
              <a:t>Evaluate distribution channels using retained revenue, ADR and cancellation behaviour—not booking volume alone.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97096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19709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Differentiate customer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97096"/>
            <a:ext cx="6492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E8F0"/>
                </a:solidFill>
              </a:defRPr>
            </a:pPr>
            <a:r>
              <a:t>Use tailored communication for new, repeat, domestic and international guest segments.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93208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9320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Plan around seasonality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093208"/>
            <a:ext cx="6492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E8F0"/>
                </a:solidFill>
              </a:defRPr>
            </a:pPr>
            <a:r>
              <a:t>Prepare staffing, room inventory and pricing strategy for peak demand periods such as August.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DD4BF"/>
                </a:solidFill>
              </a:defRPr>
            </a:pPr>
            <a:r>
              <a:t>Data-driven hotel management should focus on profitable, retained demand—not simply booking volume.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